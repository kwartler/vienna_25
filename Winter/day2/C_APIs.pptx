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593" r:id="rId2"/>
    <p:sldId id="299" r:id="rId3"/>
    <p:sldId id="310" r:id="rId4"/>
    <p:sldId id="311" r:id="rId5"/>
    <p:sldId id="300" r:id="rId6"/>
    <p:sldId id="308" r:id="rId7"/>
    <p:sldId id="309" r:id="rId8"/>
    <p:sldId id="302" r:id="rId9"/>
    <p:sldId id="312" r:id="rId10"/>
    <p:sldId id="313" r:id="rId11"/>
    <p:sldId id="340" r:id="rId12"/>
    <p:sldId id="315" r:id="rId13"/>
    <p:sldId id="821" r:id="rId14"/>
    <p:sldId id="824" r:id="rId15"/>
    <p:sldId id="822" r:id="rId16"/>
    <p:sldId id="823" r:id="rId17"/>
    <p:sldId id="826" r:id="rId18"/>
    <p:sldId id="825" r:id="rId19"/>
    <p:sldId id="827" r:id="rId20"/>
    <p:sldId id="828" r:id="rId21"/>
    <p:sldId id="829" r:id="rId22"/>
    <p:sldId id="82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d Kwartler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37" autoAdjust="0"/>
    <p:restoredTop sz="91565" autoAdjust="0"/>
  </p:normalViewPr>
  <p:slideViewPr>
    <p:cSldViewPr snapToGrid="0">
      <p:cViewPr varScale="1">
        <p:scale>
          <a:sx n="112" d="100"/>
          <a:sy n="112" d="100"/>
        </p:scale>
        <p:origin x="116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0A60C-850A-4EA4-9C14-A8FE98B94505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9AA13-E3FC-4BB6-B68D-5F0F5803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05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B90E-0779-4C36-915C-6F05FCD89456}" type="datetime1">
              <a:rPr lang="en-US" smtClean="0"/>
              <a:t>12/11/25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  <a:prstGeom prst="rect">
            <a:avLst/>
          </a:prstGeo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</p:spTree>
    <p:extLst>
      <p:ext uri="{BB962C8B-B14F-4D97-AF65-F5344CB8AC3E}">
        <p14:creationId xmlns:p14="http://schemas.microsoft.com/office/powerpoint/2010/main" val="4163882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11347"/>
            <a:ext cx="7886700" cy="5120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12/11/25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  <a:prstGeom prst="rect">
            <a:avLst/>
          </a:prstGeo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896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1074-1C18-4AE7-957D-F18524378C85}" type="datetime1">
              <a:rPr lang="en-US" smtClean="0"/>
              <a:t>12/11/25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  <a:prstGeom prst="rect">
            <a:avLst/>
          </a:prstGeo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</p:spTree>
    <p:extLst>
      <p:ext uri="{BB962C8B-B14F-4D97-AF65-F5344CB8AC3E}">
        <p14:creationId xmlns:p14="http://schemas.microsoft.com/office/powerpoint/2010/main" val="209145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192583"/>
            <a:ext cx="3886200" cy="447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192583"/>
            <a:ext cx="3886200" cy="447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E256C-8D9A-4404-B47D-41A1AE514425}" type="datetime1">
              <a:rPr lang="en-US" smtClean="0"/>
              <a:t>12/11/25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  <a:prstGeom prst="rect">
            <a:avLst/>
          </a:prstGeo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32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132519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56431"/>
            <a:ext cx="3868340" cy="3712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32519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56431"/>
            <a:ext cx="3887391" cy="3712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2154-9035-4012-8189-BAAB61C5A5EE}" type="datetime1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  <a:prstGeom prst="rect">
            <a:avLst/>
          </a:prstGeo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50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12/11/25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  <a:prstGeom prst="rect">
            <a:avLst/>
          </a:prstGeo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218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E382-4F61-4E24-BE1A-377EC83D0E3A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  <a:prstGeom prst="rect">
            <a:avLst/>
          </a:prstGeo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33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83212"/>
            <a:ext cx="4629150" cy="461420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097279"/>
            <a:ext cx="2949178" cy="460142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EED6-FC16-45B9-B8C4-2BC5DBA88325}" type="datetime1">
              <a:rPr lang="en-US" smtClean="0"/>
              <a:t>12/11/25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  <a:prstGeom prst="rect">
            <a:avLst/>
          </a:prstGeo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237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1139483"/>
            <a:ext cx="4629150" cy="451572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181686"/>
            <a:ext cx="2949178" cy="447778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512B-4F1D-43D7-8819-2F53FEF69650}" type="datetime1">
              <a:rPr lang="en-US" smtClean="0"/>
              <a:t>12/11/25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  <a:prstGeom prst="rect">
            <a:avLst/>
          </a:prstGeo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24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080030"/>
            <a:ext cx="7886700" cy="46173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EA29D-D431-42FE-B7B6-AAE4454C77D3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  <a:prstGeom prst="rect">
            <a:avLst/>
          </a:prstGeo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54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1209822"/>
            <a:ext cx="1971675" cy="448759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223889"/>
            <a:ext cx="5800725" cy="447488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D8A1E-EA8F-46C1-B891-AE0C00D9C314}" type="datetime1">
              <a:rPr lang="en-US" smtClean="0"/>
              <a:t>12/11/25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  <a:prstGeom prst="rect">
            <a:avLst/>
          </a:prstGeo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828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/>
          <p:cNvSpPr txBox="1">
            <a:spLocks/>
          </p:cNvSpPr>
          <p:nvPr userDrawn="1"/>
        </p:nvSpPr>
        <p:spPr>
          <a:xfrm>
            <a:off x="8382000" y="6446838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alpha val="99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32D78A-10B3-4DCD-84B7-9E85168884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74176" y="990600"/>
            <a:ext cx="8312624" cy="51816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43170">
                    <a:alpha val="99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rgbClr val="043170">
                    <a:alpha val="99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rgbClr val="043170">
                    <a:alpha val="99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rgbClr val="043170">
                    <a:alpha val="99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rgbClr val="043170">
                    <a:alpha val="99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381000" y="274637"/>
            <a:ext cx="8305800" cy="487363"/>
          </a:xfrm>
          <a:prstGeom prst="rect">
            <a:avLst/>
          </a:prstGeom>
        </p:spPr>
        <p:txBody>
          <a:bodyPr anchor="ctr"/>
          <a:lstStyle>
            <a:lvl1pPr algn="l">
              <a:defRPr sz="2200">
                <a:solidFill>
                  <a:srgbClr val="043170">
                    <a:alpha val="99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690D8A1E-EA8F-46C1-B891-AE0C00D9C314}" type="datetime1">
              <a:rPr lang="en-US" smtClean="0"/>
              <a:t>12/11/25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6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08176"/>
            <a:ext cx="7886700" cy="5120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37B94-E2BF-44DC-ADC5-B05FC9934E9D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09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www.google.com/maps/place/Cleveland,+OH/@41.4951143,-81.8462865,11z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maps.googleapis.com/maps/api/staticmap?center=cleveland,+oh&amp;zoom=10&amp;size=640x640&amp;scale=2&amp;maptype=terrain&amp;key=AIzaSyCg5BhicmNdpk2Hg1dr0m-H3XPWjd0BtfU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maps.googleapis.com/maps/api/geocode/json?address=cleveland&amp;sensor=false&amp;key=AIzaSyCg5BhicmNdpk2Hg1dr0m-H3XPWjd0BtfU" TargetMode="Externa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5Rly83zfuI&amp;ab_channel=TheDailyShowwithTrevorNoah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didas.co.uk/shoes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adidas.co.uk/api/plp/content-engine/search?query=boots" TargetMode="Externa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didas.co.uk/api/products/B75807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api.org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sz="2400" i="1" dirty="0"/>
              <a:t>API Sources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Ted Kwartler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B90E-0779-4C36-915C-6F05FCD89456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</p:spTree>
    <p:extLst>
      <p:ext uri="{BB962C8B-B14F-4D97-AF65-F5344CB8AC3E}">
        <p14:creationId xmlns:p14="http://schemas.microsoft.com/office/powerpoint/2010/main" val="1912304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0D5B9A0F-CCD0-4348-8112-2A1A806F4019}" type="datetime1">
              <a:rPr lang="en-US" smtClean="0"/>
              <a:t>12/11/25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API?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7900" y="2082060"/>
            <a:ext cx="4572000" cy="923330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“Application Program Interface”</a:t>
            </a:r>
          </a:p>
          <a:p>
            <a:r>
              <a:rPr lang="en-US" dirty="0"/>
              <a:t>Clearly defined methods of communication between various software components. </a:t>
            </a:r>
          </a:p>
        </p:txBody>
      </p:sp>
      <p:pic>
        <p:nvPicPr>
          <p:cNvPr id="801794" name="Picture 2" descr="Image result for what is an ap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3325324"/>
            <a:ext cx="5715000" cy="200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275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15688" y="1127080"/>
            <a:ext cx="8312624" cy="3131024"/>
          </a:xfrm>
        </p:spPr>
        <p:txBody>
          <a:bodyPr/>
          <a:lstStyle/>
          <a:p>
            <a:r>
              <a:rPr lang="en-US" dirty="0"/>
              <a:t>XML – Extensible Markup Language</a:t>
            </a:r>
          </a:p>
          <a:p>
            <a:pPr lvl="1"/>
            <a:r>
              <a:rPr lang="en-US" dirty="0"/>
              <a:t>Ever wonder why Excel files went from </a:t>
            </a:r>
            <a:r>
              <a:rPr lang="en-US" dirty="0" err="1"/>
              <a:t>xls</a:t>
            </a:r>
            <a:r>
              <a:rPr lang="en-US" dirty="0"/>
              <a:t> to </a:t>
            </a:r>
            <a:r>
              <a:rPr lang="en-US" dirty="0" err="1"/>
              <a:t>xlsx</a:t>
            </a:r>
            <a:r>
              <a:rPr lang="en-US" dirty="0"/>
              <a:t>?  The data is stored as XML.</a:t>
            </a:r>
          </a:p>
          <a:p>
            <a:pPr lvl="1"/>
            <a:endParaRPr lang="en-US" dirty="0"/>
          </a:p>
          <a:p>
            <a:r>
              <a:rPr lang="en-US" dirty="0"/>
              <a:t>JSON- </a:t>
            </a:r>
            <a:r>
              <a:rPr lang="en-US" dirty="0" err="1"/>
              <a:t>Javascript</a:t>
            </a:r>
            <a:r>
              <a:rPr lang="en-US" dirty="0"/>
              <a:t> Object Notation</a:t>
            </a:r>
          </a:p>
          <a:p>
            <a:pPr lvl="1"/>
            <a:r>
              <a:rPr lang="en-US" dirty="0"/>
              <a:t>Similar to R but used to make interactive objects in web browsers.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formats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704726" y="3879239"/>
            <a:ext cx="5734548" cy="2000251"/>
            <a:chOff x="1160584" y="3879239"/>
            <a:chExt cx="5734548" cy="2000251"/>
          </a:xfrm>
        </p:grpSpPr>
        <p:pic>
          <p:nvPicPr>
            <p:cNvPr id="6" name="Picture 2" descr="Image result for what is an api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0584" y="3879239"/>
              <a:ext cx="5715000" cy="2000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Oval 7"/>
            <p:cNvSpPr/>
            <p:nvPr/>
          </p:nvSpPr>
          <p:spPr>
            <a:xfrm>
              <a:off x="1376147" y="4183434"/>
              <a:ext cx="1391859" cy="1391859"/>
            </a:xfrm>
            <a:prstGeom prst="ellipse">
              <a:avLst/>
            </a:prstGeom>
            <a:solidFill>
              <a:srgbClr val="24AB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02256" y="4694697"/>
              <a:ext cx="16979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Ask a question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196407" y="4183433"/>
              <a:ext cx="1391859" cy="1391859"/>
            </a:xfrm>
            <a:prstGeom prst="ellipse">
              <a:avLst/>
            </a:prstGeom>
            <a:solidFill>
              <a:srgbClr val="8071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3012" y="4492446"/>
              <a:ext cx="17721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Respond in XML or JSON</a:t>
              </a:r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BD3EC70D-7268-DE4F-9BA1-20B610AB5B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6700A58B-DD98-43D0-B791-721480A02982}" type="datetime1">
              <a:rPr lang="en-US" smtClean="0"/>
              <a:t>12/11/25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67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0D5B9A0F-CCD0-4348-8112-2A1A806F4019}" type="datetime1">
              <a:rPr lang="en-US" smtClean="0"/>
              <a:t>12/11/25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phone doesn’t have every map in the world.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714500" y="1945310"/>
            <a:ext cx="5715000" cy="2967380"/>
            <a:chOff x="1714500" y="1064690"/>
            <a:chExt cx="5715000" cy="2967380"/>
          </a:xfrm>
        </p:grpSpPr>
        <p:grpSp>
          <p:nvGrpSpPr>
            <p:cNvPr id="10" name="Group 9"/>
            <p:cNvGrpSpPr/>
            <p:nvPr/>
          </p:nvGrpSpPr>
          <p:grpSpPr>
            <a:xfrm>
              <a:off x="1714500" y="2031819"/>
              <a:ext cx="5715000" cy="2000251"/>
              <a:chOff x="1714500" y="3325324"/>
              <a:chExt cx="5715000" cy="2000251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1714500" y="3325324"/>
                <a:ext cx="5715000" cy="2000251"/>
                <a:chOff x="1714500" y="3325324"/>
                <a:chExt cx="5715000" cy="2000251"/>
              </a:xfrm>
            </p:grpSpPr>
            <p:pic>
              <p:nvPicPr>
                <p:cNvPr id="801794" name="Picture 2" descr="Image result for what is an api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14500" y="3325324"/>
                  <a:ext cx="5715000" cy="200025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" name="Oval 2"/>
                <p:cNvSpPr/>
                <p:nvPr/>
              </p:nvSpPr>
              <p:spPr>
                <a:xfrm>
                  <a:off x="1949115" y="3629519"/>
                  <a:ext cx="1391859" cy="1391859"/>
                </a:xfrm>
                <a:prstGeom prst="ellipse">
                  <a:avLst/>
                </a:prstGeom>
                <a:solidFill>
                  <a:srgbClr val="24ABE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/>
                <p:cNvSpPr/>
                <p:nvPr/>
              </p:nvSpPr>
              <p:spPr>
                <a:xfrm>
                  <a:off x="5759115" y="3612918"/>
                  <a:ext cx="1391859" cy="1391859"/>
                </a:xfrm>
                <a:prstGeom prst="ellipse">
                  <a:avLst/>
                </a:prstGeom>
                <a:solidFill>
                  <a:srgbClr val="8071B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9" name="Picture 2" descr="Image result for google maps logo transparent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01742" y="3925535"/>
                <a:ext cx="706603" cy="7066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4" name="Rectangle 13"/>
            <p:cNvSpPr/>
            <p:nvPr/>
          </p:nvSpPr>
          <p:spPr>
            <a:xfrm>
              <a:off x="2045369" y="1064690"/>
              <a:ext cx="5053263" cy="64633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“Your phone requests information from the maps API services to render the information.</a:t>
              </a:r>
            </a:p>
          </p:txBody>
        </p:sp>
      </p:grpSp>
      <p:pic>
        <p:nvPicPr>
          <p:cNvPr id="1028" name="Picture 4" descr="Image result for iphone clipar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791" y="3251532"/>
            <a:ext cx="1724231" cy="129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811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0D5B9A0F-CCD0-4348-8112-2A1A806F4019}" type="datetime1">
              <a:rPr lang="en-US" smtClean="0"/>
              <a:t>12/11/25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phone doesn’t have every map in the world.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5038"/>
          <a:stretch/>
        </p:blipFill>
        <p:spPr>
          <a:xfrm>
            <a:off x="3966250" y="2121479"/>
            <a:ext cx="4689692" cy="32147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99746" name="Picture 2" descr="Image result for google maps logo transparen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75" y="1760562"/>
            <a:ext cx="706603" cy="70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177421" y="2913269"/>
            <a:ext cx="37121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Google Maps API Services include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Geocoding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Base map “tiles”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Basic Geographic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370997" y="1760562"/>
            <a:ext cx="5880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linkClick r:id="rId4"/>
              </a:rPr>
              <a:t>www.google.com/maps/place/Cleveland,+OH/@41.4951143,-81.8462865,11z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78199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0D5B9A0F-CCD0-4348-8112-2A1A806F4019}" type="datetime1">
              <a:rPr lang="en-US" smtClean="0"/>
              <a:t>12/11/25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APIs are behind many of the sites you use everyday.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681" y="1633674"/>
            <a:ext cx="4423320" cy="43986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1445" y="2292824"/>
            <a:ext cx="23041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hlinkClick r:id="rId3"/>
              </a:rPr>
              <a:t>Static Map API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641445" y="3179928"/>
            <a:ext cx="3643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Static images are loaded as tiles underneath allowing you to scroll and navigate in your browser.</a:t>
            </a:r>
          </a:p>
        </p:txBody>
      </p:sp>
    </p:spTree>
    <p:extLst>
      <p:ext uri="{BB962C8B-B14F-4D97-AF65-F5344CB8AC3E}">
        <p14:creationId xmlns:p14="http://schemas.microsoft.com/office/powerpoint/2010/main" val="2979029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0D5B9A0F-CCD0-4348-8112-2A1A806F4019}" type="datetime1">
              <a:rPr lang="en-US" smtClean="0"/>
              <a:t>12/11/25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APIs are behind many of the sites you use everyday.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842" y="2292824"/>
            <a:ext cx="33087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hlinkClick r:id="rId2"/>
              </a:rPr>
              <a:t>JSON Information API</a:t>
            </a:r>
            <a:endParaRPr lang="en-US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354842" y="3193576"/>
            <a:ext cx="3643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top of the tiles, more information is needed including the geo-political information and coordinates for the “bounding box”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543" y="1064525"/>
            <a:ext cx="4395566" cy="5109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9482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0D5B9A0F-CCD0-4348-8112-2A1A806F4019}" type="datetime1">
              <a:rPr lang="en-US" smtClean="0"/>
              <a:t>12/11/25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know where to look, you can access APIs for data!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35" y="1008633"/>
            <a:ext cx="1369434" cy="6299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5586" y="1638572"/>
            <a:ext cx="8958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https://www.youtube.com/watch?v=K5Rly83zfuI&amp;ab_channel=TheDailyShowwithTrevorNoah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705969" y="1269240"/>
            <a:ext cx="6515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 video has closed captioning, let’s grab the text by clicking “cc”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EBC87D-D257-E419-445C-CA1709903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046" y="2264766"/>
            <a:ext cx="6109447" cy="372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291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12/11/25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chrome access the developer console.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751" y="2026692"/>
            <a:ext cx="4371975" cy="4114800"/>
          </a:xfrm>
          <a:prstGeom prst="rect">
            <a:avLst/>
          </a:prstGeom>
        </p:spPr>
      </p:pic>
      <p:pic>
        <p:nvPicPr>
          <p:cNvPr id="7" name="Picture 6" descr="Image result for chrome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267" y="1158982"/>
            <a:ext cx="745958" cy="74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705969" y="1269240"/>
            <a:ext cx="538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While the video is playing, press F12 &amp; reload the page.</a:t>
            </a:r>
          </a:p>
        </p:txBody>
      </p:sp>
    </p:spTree>
    <p:extLst>
      <p:ext uri="{BB962C8B-B14F-4D97-AF65-F5344CB8AC3E}">
        <p14:creationId xmlns:p14="http://schemas.microsoft.com/office/powerpoint/2010/main" val="2924774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12/11/25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Image result for chrome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267" y="1158982"/>
            <a:ext cx="745958" cy="74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705969" y="1269240"/>
            <a:ext cx="59118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XHR and search for “timed” as in </a:t>
            </a:r>
            <a:r>
              <a:rPr lang="en-US" dirty="0" err="1"/>
              <a:t>timedtext</a:t>
            </a:r>
            <a:r>
              <a:rPr lang="en-US" dirty="0"/>
              <a:t>.  </a:t>
            </a:r>
          </a:p>
          <a:p>
            <a:r>
              <a:rPr lang="en-US" dirty="0"/>
              <a:t>Right click on the request name and select “open in new tab”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812" y="1989235"/>
            <a:ext cx="4524375" cy="416242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361063" y="2497540"/>
            <a:ext cx="586854" cy="24566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390631" y="3905535"/>
            <a:ext cx="928048" cy="4094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622645" y="2731827"/>
            <a:ext cx="586854" cy="24566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04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8230A2-21BD-0E42-A54B-815D144EF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12/11/25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CB0AD3-D6F6-CF4F-93E4-564141E0C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 Caption Data is in JSON</a:t>
            </a:r>
          </a:p>
        </p:txBody>
      </p:sp>
      <p:pic>
        <p:nvPicPr>
          <p:cNvPr id="8" name="Picture 7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1602650D-8CFC-6341-A64C-271105E85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14" y="1223157"/>
            <a:ext cx="2401683" cy="521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656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12/11/25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Practice…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910" y="1705970"/>
            <a:ext cx="44206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C_youtubeAPI_example.R</a:t>
            </a:r>
            <a:endParaRPr lang="en-US" sz="2000" dirty="0"/>
          </a:p>
          <a:p>
            <a:r>
              <a:rPr lang="en-US" sz="2000" dirty="0" err="1"/>
              <a:t>D_youtubeAPI_curlconverter_example.R</a:t>
            </a:r>
            <a:endParaRPr lang="en-US" sz="2000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E1F6F8-9742-254D-83B6-41AF09898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CSCI 96</a:t>
            </a:r>
          </a:p>
        </p:txBody>
      </p:sp>
    </p:spTree>
    <p:extLst>
      <p:ext uri="{BB962C8B-B14F-4D97-AF65-F5344CB8AC3E}">
        <p14:creationId xmlns:p14="http://schemas.microsoft.com/office/powerpoint/2010/main" val="3555188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8335C-4952-2891-77D7-4605AF22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12/11/25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71877E-3F10-EE59-E8BE-915E1101A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generation approaches to web-scraping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AC9EF-900C-D872-FB57-8E08C3E2A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CC1FF-29A4-2319-3437-870861BBF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669B44-07C0-F9A2-012B-98D096957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64" y="1440180"/>
            <a:ext cx="4664013" cy="41490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CFB581-09C9-3E0D-E491-7F0618F649CD}"/>
              </a:ext>
            </a:extLst>
          </p:cNvPr>
          <p:cNvSpPr txBox="1"/>
          <p:nvPr/>
        </p:nvSpPr>
        <p:spPr>
          <a:xfrm>
            <a:off x="5029200" y="1440180"/>
            <a:ext cx="3923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https://www.adidas.co.uk/shoes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A6CD90-F4F0-B215-E4A6-8C21D1DC6376}"/>
              </a:ext>
            </a:extLst>
          </p:cNvPr>
          <p:cNvSpPr txBox="1"/>
          <p:nvPr/>
        </p:nvSpPr>
        <p:spPr>
          <a:xfrm>
            <a:off x="5052632" y="2413337"/>
            <a:ext cx="38997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Api’s exist but have checks for automated crawling.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Python’s curl-</a:t>
            </a:r>
            <a:r>
              <a:rPr lang="en-US" dirty="0" err="1"/>
              <a:t>cffi</a:t>
            </a:r>
            <a:r>
              <a:rPr lang="en-US" dirty="0"/>
              <a:t> has an impersonate parameter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 doesn’t have a similar function so </a:t>
            </a:r>
            <a:r>
              <a:rPr lang="en-US" dirty="0" err="1"/>
              <a:t>curlconvertor</a:t>
            </a:r>
            <a:r>
              <a:rPr lang="en-US" dirty="0"/>
              <a:t> will get a “403” forbidden </a:t>
            </a:r>
          </a:p>
        </p:txBody>
      </p:sp>
    </p:spTree>
    <p:extLst>
      <p:ext uri="{BB962C8B-B14F-4D97-AF65-F5344CB8AC3E}">
        <p14:creationId xmlns:p14="http://schemas.microsoft.com/office/powerpoint/2010/main" val="2892689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36E67B-4327-BC8C-A6C7-486287F56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12/11/25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713DD4-8C43-06E3-87E9-FE5065164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Adidas search API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CB38C-0FB9-4D57-C31A-0F224BE6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159F-9FE4-55BC-38A2-A0A0E922B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808A1-497C-92E5-A3EE-BAC25072673B}"/>
              </a:ext>
            </a:extLst>
          </p:cNvPr>
          <p:cNvSpPr txBox="1"/>
          <p:nvPr/>
        </p:nvSpPr>
        <p:spPr>
          <a:xfrm>
            <a:off x="120014" y="1197025"/>
            <a:ext cx="81895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https://www.adidas.co.uk/api/plp/content-engine/search?query=boots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D0F977-8D3C-E04A-7F78-DB2031B6D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98" y="1670255"/>
            <a:ext cx="5678103" cy="50512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5F687D-DE18-AFD7-99D6-7A2C2C582C3E}"/>
              </a:ext>
            </a:extLst>
          </p:cNvPr>
          <p:cNvSpPr txBox="1"/>
          <p:nvPr/>
        </p:nvSpPr>
        <p:spPr>
          <a:xfrm>
            <a:off x="6115050" y="1762359"/>
            <a:ext cx="2720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Works in your browser, 403 “forbidden” in many curl requests</a:t>
            </a:r>
          </a:p>
        </p:txBody>
      </p:sp>
    </p:spTree>
    <p:extLst>
      <p:ext uri="{BB962C8B-B14F-4D97-AF65-F5344CB8AC3E}">
        <p14:creationId xmlns:p14="http://schemas.microsoft.com/office/powerpoint/2010/main" val="2346210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938C4F-2DA5-5071-14E6-E7FB443C6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12/11/25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CD636B-418D-89A6-66EC-D3F98DB68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30" y="365126"/>
            <a:ext cx="8755380" cy="591477"/>
          </a:xfrm>
        </p:spPr>
        <p:txBody>
          <a:bodyPr/>
          <a:lstStyle/>
          <a:p>
            <a:r>
              <a:rPr lang="en-US" sz="2400" dirty="0"/>
              <a:t>Adidas product API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BA95C-8594-86D9-A390-4C31D9E5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FF2FF-DF83-6F40-81B0-EC891E8F1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041A8B-22AA-03A4-EE80-D9FAEC06A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" y="1762359"/>
            <a:ext cx="5317596" cy="47305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D4CE3E-6231-F6AC-1FBB-039B8EA0B64C}"/>
              </a:ext>
            </a:extLst>
          </p:cNvPr>
          <p:cNvSpPr txBox="1"/>
          <p:nvPr/>
        </p:nvSpPr>
        <p:spPr>
          <a:xfrm>
            <a:off x="240030" y="1174815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https://www.adidas.co.uk/api/products/B75807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E0E25A-C5CF-CB8B-CBBA-4EEBD4CB5EB2}"/>
              </a:ext>
            </a:extLst>
          </p:cNvPr>
          <p:cNvSpPr txBox="1"/>
          <p:nvPr/>
        </p:nvSpPr>
        <p:spPr>
          <a:xfrm>
            <a:off x="6115050" y="1762359"/>
            <a:ext cx="2720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Works in your browser, 403 “forbidden” in many curl requests</a:t>
            </a:r>
          </a:p>
        </p:txBody>
      </p:sp>
    </p:spTree>
    <p:extLst>
      <p:ext uri="{BB962C8B-B14F-4D97-AF65-F5344CB8AC3E}">
        <p14:creationId xmlns:p14="http://schemas.microsoft.com/office/powerpoint/2010/main" val="2107152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BC5637-9818-F37F-A9BC-BD34184F8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12/11/25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8866B5-0080-A88D-408D-C2DCE3E5B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" y="365126"/>
            <a:ext cx="8835390" cy="591477"/>
          </a:xfrm>
        </p:spPr>
        <p:txBody>
          <a:bodyPr/>
          <a:lstStyle/>
          <a:p>
            <a:r>
              <a:rPr lang="en-US" sz="2400" dirty="0"/>
              <a:t>We can use LLM agents to crawl, and also LLMs to extract information.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49D1D-ADB5-9464-9D58-CFC1C9ED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35A90-C16C-BAA0-61D1-89487F608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EF1AED-1B15-6170-9C6F-6955FD32E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1" y="2371295"/>
            <a:ext cx="2450767" cy="182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83D877-7EAC-4EF4-9B72-0A9061BA51F4}"/>
              </a:ext>
            </a:extLst>
          </p:cNvPr>
          <p:cNvSpPr txBox="1"/>
          <p:nvPr/>
        </p:nvSpPr>
        <p:spPr>
          <a:xfrm>
            <a:off x="205740" y="1302477"/>
            <a:ext cx="87089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LLMs have trouble parsing HTML because its cluttered, so services exist to change HTML to markdown.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0D1EDC-B51A-85D6-36FE-CD6976E1D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731" y="2391585"/>
            <a:ext cx="2450767" cy="1828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48487C-04E1-4B1F-7426-C8AA635602B2}"/>
              </a:ext>
            </a:extLst>
          </p:cNvPr>
          <p:cNvSpPr txBox="1"/>
          <p:nvPr/>
        </p:nvSpPr>
        <p:spPr>
          <a:xfrm>
            <a:off x="908243" y="1952357"/>
            <a:ext cx="1114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/>
              <a:t>Jina AI - easy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F890E-6E44-6C0B-08C4-7AA8F9694002}"/>
              </a:ext>
            </a:extLst>
          </p:cNvPr>
          <p:cNvSpPr txBox="1"/>
          <p:nvPr/>
        </p:nvSpPr>
        <p:spPr>
          <a:xfrm>
            <a:off x="3644543" y="1952357"/>
            <a:ext cx="1737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 err="1"/>
              <a:t>Firecrawl</a:t>
            </a:r>
            <a:r>
              <a:rPr lang="en-US" sz="1400" i="1" dirty="0"/>
              <a:t> AI- medium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6569AD-F14C-7D17-C569-DD3C474D9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165" y="2371294"/>
            <a:ext cx="2450768" cy="1828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BE0C02-8749-A44D-C081-127CF083ADFE}"/>
              </a:ext>
            </a:extLst>
          </p:cNvPr>
          <p:cNvSpPr txBox="1"/>
          <p:nvPr/>
        </p:nvSpPr>
        <p:spPr>
          <a:xfrm>
            <a:off x="6545165" y="1952357"/>
            <a:ext cx="2450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 err="1"/>
              <a:t>AgentQL</a:t>
            </a:r>
            <a:r>
              <a:rPr lang="en-US" sz="1400" i="1" dirty="0"/>
              <a:t> AI- more advanced</a:t>
            </a:r>
          </a:p>
        </p:txBody>
      </p:sp>
    </p:spTree>
    <p:extLst>
      <p:ext uri="{BB962C8B-B14F-4D97-AF65-F5344CB8AC3E}">
        <p14:creationId xmlns:p14="http://schemas.microsoft.com/office/powerpoint/2010/main" val="2867242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66963A-D27A-1756-EF2F-7DC24DFE4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12/11/25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12BA92-5953-9393-3BF6-5B35B9C7F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65126"/>
            <a:ext cx="8618220" cy="591477"/>
          </a:xfrm>
        </p:spPr>
        <p:txBody>
          <a:bodyPr/>
          <a:lstStyle/>
          <a:p>
            <a:r>
              <a:rPr lang="en-US" sz="2400" dirty="0" err="1"/>
              <a:t>Firecrawl</a:t>
            </a:r>
            <a:r>
              <a:rPr lang="en-US" sz="2400" dirty="0"/>
              <a:t> – has a cost, turns website into markdown or </a:t>
            </a:r>
            <a:r>
              <a:rPr lang="en-US" sz="2400" dirty="0" err="1"/>
              <a:t>json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188F9-B8CE-6C5F-4928-EEF0D9E42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353F5-E691-A5E7-0522-2FCF7E898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CCE992-6F65-145A-C6CC-965464371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810528"/>
            <a:ext cx="7772400" cy="451153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E9FC8E-F0AD-5191-98D6-E48D2A8D7C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353" r="14706"/>
          <a:stretch/>
        </p:blipFill>
        <p:spPr>
          <a:xfrm>
            <a:off x="5970504" y="2857500"/>
            <a:ext cx="2689392" cy="363537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44E09F-80B8-5062-C6FE-AD9278D1349A}"/>
              </a:ext>
            </a:extLst>
          </p:cNvPr>
          <p:cNvSpPr txBox="1"/>
          <p:nvPr/>
        </p:nvSpPr>
        <p:spPr>
          <a:xfrm>
            <a:off x="285750" y="1196971"/>
            <a:ext cx="70500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Seems to get more information into the output than Jina &amp; can scrape more complicated sites </a:t>
            </a:r>
          </a:p>
        </p:txBody>
      </p:sp>
    </p:spTree>
    <p:extLst>
      <p:ext uri="{BB962C8B-B14F-4D97-AF65-F5344CB8AC3E}">
        <p14:creationId xmlns:p14="http://schemas.microsoft.com/office/powerpoint/2010/main" val="981982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1FCFD9-94E4-A1C8-FE25-065CD9EF2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12/11/25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A1388B-76A9-BCC8-CEC5-F0D3A8523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" y="205909"/>
            <a:ext cx="8846820" cy="591477"/>
          </a:xfrm>
        </p:spPr>
        <p:txBody>
          <a:bodyPr/>
          <a:lstStyle/>
          <a:p>
            <a:r>
              <a:rPr lang="en-US" sz="2400" dirty="0"/>
              <a:t>Requires </a:t>
            </a:r>
            <a:r>
              <a:rPr lang="en-US" sz="2400" dirty="0" err="1"/>
              <a:t>api</a:t>
            </a:r>
            <a:r>
              <a:rPr lang="en-US" sz="2400" dirty="0"/>
              <a:t> key, has a cost &amp; requires knowledge of the query language (pretty easy)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28E29-5C0A-F695-7465-197FE8F9A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C492B-A01F-7107-785F-26B7FA51C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8E9173-AB3C-7CEB-B703-3C1FC0A9D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" y="1344683"/>
            <a:ext cx="6071949" cy="35244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DBD3D9-B85C-E30C-57DF-3EC63EBB7FC3}"/>
              </a:ext>
            </a:extLst>
          </p:cNvPr>
          <p:cNvSpPr txBox="1"/>
          <p:nvPr/>
        </p:nvSpPr>
        <p:spPr>
          <a:xfrm>
            <a:off x="6886575" y="1344683"/>
            <a:ext cx="192595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Can handle logins, captcha and other complicated tasks.</a:t>
            </a:r>
          </a:p>
          <a:p>
            <a:endParaRPr lang="en-US" i="1" dirty="0"/>
          </a:p>
          <a:p>
            <a:r>
              <a:rPr lang="en-US" i="1" dirty="0"/>
              <a:t>Has a Chrome add-in which helps you identify sections of a page in the query language.</a:t>
            </a:r>
          </a:p>
          <a:p>
            <a:endParaRPr lang="en-US" i="1" dirty="0"/>
          </a:p>
          <a:p>
            <a:r>
              <a:rPr lang="en-US" i="1" dirty="0"/>
              <a:t>Seems to take a long time.</a:t>
            </a:r>
          </a:p>
        </p:txBody>
      </p:sp>
    </p:spTree>
    <p:extLst>
      <p:ext uri="{BB962C8B-B14F-4D97-AF65-F5344CB8AC3E}">
        <p14:creationId xmlns:p14="http://schemas.microsoft.com/office/powerpoint/2010/main" val="1454929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2ADBC-E152-2DDD-AD34-E40CB4B60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12/11/25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E0BFE7-8D88-209E-BEA2-15DF40295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Jina AI – has a free tier &amp; easy html to 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86D36-2553-54E9-6E02-68FC497D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0595D-09E0-3B81-BFB5-150274DFF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09FB5B-A8B9-A337-0DE8-965F101BDEEB}"/>
              </a:ext>
            </a:extLst>
          </p:cNvPr>
          <p:cNvSpPr txBox="1"/>
          <p:nvPr/>
        </p:nvSpPr>
        <p:spPr>
          <a:xfrm>
            <a:off x="400050" y="116324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https://</a:t>
            </a:r>
            <a:r>
              <a:rPr lang="en-US" b="1" u="sng" dirty="0" err="1"/>
              <a:t>r.jina.ai</a:t>
            </a:r>
            <a:r>
              <a:rPr lang="en-US" dirty="0"/>
              <a:t>/https://</a:t>
            </a:r>
            <a:r>
              <a:rPr lang="en-US" dirty="0" err="1"/>
              <a:t>example.com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694172-08FB-A50F-BFB9-B9E8DB3DB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" y="2194173"/>
            <a:ext cx="5897880" cy="24696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E16E94-2720-E80F-480B-9608D57C7A0B}"/>
              </a:ext>
            </a:extLst>
          </p:cNvPr>
          <p:cNvSpPr txBox="1"/>
          <p:nvPr/>
        </p:nvSpPr>
        <p:spPr>
          <a:xfrm>
            <a:off x="400050" y="1828090"/>
            <a:ext cx="832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build this pipeline in R.  Can also describe images &amp; pdfs.</a:t>
            </a:r>
          </a:p>
        </p:txBody>
      </p:sp>
    </p:spTree>
    <p:extLst>
      <p:ext uri="{BB962C8B-B14F-4D97-AF65-F5344CB8AC3E}">
        <p14:creationId xmlns:p14="http://schemas.microsoft.com/office/powerpoint/2010/main" val="93324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36FAC-4668-1EC2-720A-82A4BE9B7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12/11/25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37479-973E-296F-ACBA-643D8030D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19D65-5C00-080E-0EA0-F94CDA2E4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4E0169-2EA6-419C-DFC6-10B4C83F8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01709"/>
            <a:ext cx="7772400" cy="3254582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10AEDD15-9241-9CDA-193D-3DF8330FD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376556"/>
            <a:ext cx="8726805" cy="591477"/>
          </a:xfrm>
        </p:spPr>
        <p:txBody>
          <a:bodyPr/>
          <a:lstStyle/>
          <a:p>
            <a:r>
              <a:rPr lang="en-US" sz="3200" dirty="0"/>
              <a:t>Jina AI – has a free tier &amp; direct query to markdown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7F2CDF-B076-B772-C465-3C2655D20331}"/>
              </a:ext>
            </a:extLst>
          </p:cNvPr>
          <p:cNvSpPr txBox="1"/>
          <p:nvPr/>
        </p:nvSpPr>
        <p:spPr>
          <a:xfrm>
            <a:off x="400050" y="1163245"/>
            <a:ext cx="8195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https://</a:t>
            </a:r>
            <a:r>
              <a:rPr lang="en-US" b="1" u="sng" dirty="0" err="1"/>
              <a:t>s.jina.ai</a:t>
            </a:r>
            <a:r>
              <a:rPr lang="en-US" b="1" u="sng" dirty="0"/>
              <a:t>/when%20was%20the%20university%20of%20Vienna%20founded?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01EAFB-43A3-9C96-1885-262D74CA002E}"/>
              </a:ext>
            </a:extLst>
          </p:cNvPr>
          <p:cNvSpPr txBox="1"/>
          <p:nvPr/>
        </p:nvSpPr>
        <p:spPr>
          <a:xfrm>
            <a:off x="685800" y="5140757"/>
            <a:ext cx="2426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Requires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518785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CC7B25-3A17-C81C-4168-97B8C7BFA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12/11/25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39837D-9502-DB57-8573-037178250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Jina AI – Fact checking based on web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4D63E-9645-D205-A06B-77E6C24B7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9F686-F448-2266-C6EE-C7FF61C65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E71B18-026A-9F36-23CA-CF6179241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01709"/>
            <a:ext cx="7772400" cy="3254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E22BE7-21D3-303E-6968-1861BF14A536}"/>
              </a:ext>
            </a:extLst>
          </p:cNvPr>
          <p:cNvSpPr txBox="1"/>
          <p:nvPr/>
        </p:nvSpPr>
        <p:spPr>
          <a:xfrm>
            <a:off x="685800" y="5140757"/>
            <a:ext cx="2426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Requires authentication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E4BE0-876A-F7B3-875B-D53148AEEAE0}"/>
              </a:ext>
            </a:extLst>
          </p:cNvPr>
          <p:cNvSpPr txBox="1"/>
          <p:nvPr/>
        </p:nvSpPr>
        <p:spPr>
          <a:xfrm>
            <a:off x="400050" y="1163245"/>
            <a:ext cx="8195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https://</a:t>
            </a:r>
            <a:r>
              <a:rPr lang="en-US" b="1" u="sng" dirty="0" err="1"/>
              <a:t>g.jina.ai</a:t>
            </a:r>
            <a:r>
              <a:rPr lang="en-US" b="1" u="sng" dirty="0"/>
              <a:t>/when%20was%20the%20university%20of%20Vienna%20founded?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804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2A857F-9BD7-42E1-ABC6-BF01B58F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12/11/25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1DFE3E-BC8C-421A-A1D4-BA0C39D5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JSON API with authentication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68C2B5-FEB2-4349-AC41-FC6A8B937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5297"/>
            <a:ext cx="9144000" cy="444235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D786444-52B6-46CF-8BE4-99F530EC9153}"/>
              </a:ext>
            </a:extLst>
          </p:cNvPr>
          <p:cNvSpPr/>
          <p:nvPr/>
        </p:nvSpPr>
        <p:spPr>
          <a:xfrm>
            <a:off x="27865" y="1065965"/>
            <a:ext cx="3258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Sign up at  </a:t>
            </a:r>
            <a:r>
              <a:rPr lang="en-US" b="1" dirty="0">
                <a:hlinkClick r:id="rId3"/>
              </a:rPr>
              <a:t>https://newsapi.org/</a:t>
            </a:r>
            <a:endParaRPr lang="en-US" b="1" dirty="0"/>
          </a:p>
        </p:txBody>
      </p:sp>
      <p:sp>
        <p:nvSpPr>
          <p:cNvPr id="1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42300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arv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1C30"/>
      </a:accent1>
      <a:accent2>
        <a:srgbClr val="8C8179"/>
      </a:accent2>
      <a:accent3>
        <a:srgbClr val="293352"/>
      </a:accent3>
      <a:accent4>
        <a:srgbClr val="8996A0"/>
      </a:accent4>
      <a:accent5>
        <a:srgbClr val="BAC5C6"/>
      </a:accent5>
      <a:accent6>
        <a:srgbClr val="4E84C4"/>
      </a:accent6>
      <a:hlink>
        <a:srgbClr val="52854C"/>
      </a:hlink>
      <a:folHlink>
        <a:srgbClr val="E87D1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3246</TotalTime>
  <Words>736</Words>
  <Application>Microsoft Macintosh PowerPoint</Application>
  <PresentationFormat>On-screen Show (4:3)</PresentationFormat>
  <Paragraphs>117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1_Office Theme</vt:lpstr>
      <vt:lpstr> API Sources</vt:lpstr>
      <vt:lpstr>What is an API?</vt:lpstr>
      <vt:lpstr>Two formats</vt:lpstr>
      <vt:lpstr>Your phone doesn’t have every map in the world.</vt:lpstr>
      <vt:lpstr>Your phone doesn’t have every map in the world.</vt:lpstr>
      <vt:lpstr>APIs are behind many of the sites you use everyday.</vt:lpstr>
      <vt:lpstr>APIs are behind many of the sites you use everyday.</vt:lpstr>
      <vt:lpstr>If you know where to look, you can access APIs for data!</vt:lpstr>
      <vt:lpstr>In chrome access the developer console.</vt:lpstr>
      <vt:lpstr>PowerPoint Presentation</vt:lpstr>
      <vt:lpstr>Closed Caption Data is in JSON</vt:lpstr>
      <vt:lpstr>Let’s Practice…</vt:lpstr>
      <vt:lpstr>Next generation approaches to web-scraping</vt:lpstr>
      <vt:lpstr>Adidas search API</vt:lpstr>
      <vt:lpstr>Adidas product API</vt:lpstr>
      <vt:lpstr>We can use LLM agents to crawl, and also LLMs to extract information.</vt:lpstr>
      <vt:lpstr>Firecrawl – has a cost, turns website into markdown or json</vt:lpstr>
      <vt:lpstr>Requires api key, has a cost &amp; requires knowledge of the query language (pretty easy)</vt:lpstr>
      <vt:lpstr>Jina AI – has a free tier &amp; easy html to MD</vt:lpstr>
      <vt:lpstr>Jina AI – has a free tier &amp; direct query to markdown</vt:lpstr>
      <vt:lpstr>Jina AI – Fact checking based on web results</vt:lpstr>
      <vt:lpstr>A Simple JSON API with authentication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5!</dc:title>
  <dc:creator>Kwartler, Edward</dc:creator>
  <cp:lastModifiedBy>Ted Kwartler</cp:lastModifiedBy>
  <cp:revision>10</cp:revision>
  <dcterms:created xsi:type="dcterms:W3CDTF">2021-01-10T22:13:02Z</dcterms:created>
  <dcterms:modified xsi:type="dcterms:W3CDTF">2025-12-11T21:48:10Z</dcterms:modified>
</cp:coreProperties>
</file>